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26522"/>
                </a:solidFill>
              </a:defRPr>
            </a:pPr>
            <a:r>
              <a:t>CLB TOÁN HỌC MATHEXPRESS</a:t>
            </a:r>
          </a:p>
          <a:p>
            <a:pPr algn="ctr">
              <a:spcBef>
                <a:spcPts val="1600"/>
              </a:spcBef>
              <a:defRPr sz="4400" b="1">
                <a:solidFill>
                  <a:srgbClr val="FFFFFF"/>
                </a:solidFill>
              </a:defRPr>
            </a:pPr>
            <a:r>
              <a:t>HỌP CHUYÊN MÔN KHỐI 6</a:t>
            </a:r>
          </a:p>
          <a:p>
            <a:pPr algn="ctr">
              <a:spcBef>
                <a:spcPts val="800"/>
              </a:spcBef>
              <a:defRPr sz="2600" b="1">
                <a:solidFill>
                  <a:srgbClr val="38BDF8"/>
                </a:solidFill>
              </a:defRPr>
            </a:pPr>
            <a:r>
              <a:t>Tuần 14 - Tháng 10/2026</a:t>
            </a:r>
          </a:p>
          <a:p>
            <a:pPr algn="ctr">
              <a:spcBef>
                <a:spcPts val="1600"/>
              </a:spcBef>
              <a:defRPr sz="1600">
                <a:solidFill>
                  <a:srgbClr val="E2E8F0"/>
                </a:solidFill>
              </a:defRPr>
            </a:pPr>
            <a:r>
              <a:t>KẾ HOẠCH TRIỂN KHAI PHƯƠNG PHÁP GIẢNG DẠY &amp; RÀ SOÁT KHẢO SÁT QUÝ I</a:t>
            </a:r>
          </a:p>
          <a:p>
            <a:pPr algn="ctr">
              <a:spcBef>
                <a:spcPts val="2400"/>
              </a:spcBef>
              <a:defRPr sz="1300">
                <a:solidFill>
                  <a:srgbClr val="64748B"/>
                </a:solidFill>
              </a:defRPr>
            </a:pPr>
            <a:r>
              <a:t>Năm học 2026 - 2027 • Bộ phận Chuyên môn MathExpress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NỘI DUNG CUỘC HỌP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01. MỘT SỐ TỒN ĐỌNG TRONG THỜI GIAN QUA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Tồn đọng tác phong: Điện thoại cá nhân, vào lớp muộn, chưa đeo thẻ tên.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Tồn đọng khảo sát Quý I: Chấm sai, lệch điểm thành phần, trễ timeline.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Tồn đọng điểm danh: Điểm danh vắng nhưng vẫn có điểm, nhận xét sơ sài.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02. KHUNG CHƯƠNG TRÌNH THÁNG 10 &amp; 11/2026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Kế hoạch bài dạy chi tiết Buổi 12 - Buổi 15 (Tháng 10/2026).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Kế hoạch bài dạy chi tiết Buổi 18 - Buổi 22 (Tháng 11/2026).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Phân hóa 4 hệ lớp: Chuyên, Nâng cao, Mở rộng &amp; Cơ bản.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03. KIẾN THỨC TRỌNG TÂM CHUYÊN MÔN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Quy trình 3 bước tìm ƯCLN &amp; BCNN; bảng đối chiếu trực quan.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Tập hợp số nguyên Z, phép cộng, trừ, nhân số nguyên.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Quy tắc dấu ngoặc và bẫy sai dấu kinh điển.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96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04. CÁC DẠNG BÀI TOÁN &amp; LỖI SAI THƯỜNG GẶP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Dạng 1: Chứng minh hai số nguyên tố cùng nhau &amp; Tìm 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Dạng 2: Tìm a, b biết ƯCLN &amp; BCNN (Hệ thức a.b = UCLN.BCNN).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Dạng 3: Bài toán thực tế BCNN (Nông trại trứng gà).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Dạng 4 &amp; 5: Tìm x bậc chẵn số nguyên; Tìm GTLN &amp; GTNN.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1.1 TỒN ĐỌNG TRONG CÔNG TÁC GIẢNG DẠY &amp; TÁC PHONG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KỶ LUẬT GIẢNG DẠY &amp; THỜI GIAN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Sử dụng thiết bị cá nhân: Vẫn còn hiện tượng giáo viên dùng điện thoại, laptop cho việc riêng trong giờ dạy.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Vào lớp muộn: Chưa đảm bảo có mặt tại lớp tối thiểu 05 phút trước giờ học theo quy định.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Ảnh hưởng: Làm giảm thời lượng giảng dạy và mất trật tự ổn định lớp đầu ca.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Lớp ghi nhận vi phạm vào muộn: 6B3-MD, 6A-MD.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Yêu cầu: Giáo viên chủ động sắp xếp lịch trình, tuyệt đối có mặt trước 05 phút.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QUY ĐỊNH ĐEO THẺ TÊN GIÁO VIÊN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Thực trạng: BPCM ghi nhận tình trạng nhiều giáo viên chưa đeo thẻ tên khi lên lớp.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Quy định CLB: Đeo thẻ tên là yêu cầu bắt buộc nhằm đảm bảo hình ảnh sư phạm chuyên nghiệp.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Các lớp ghi nhận vi phạm: 6C1-MD, 6B4-MD, 6B1-CG, 6A2-CG, 6A2-LB, 6C2-LB, 6A3-LB, 6A2-AK, 6B2-AK, 6A3-AK, 6B1-XL,...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Yêu cầu chấn chỉnh: Tất cả thầy cô phải đeo thẻ dây MathExpress suốt buổi dạy.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1.2 TỒN ĐỌNG KHẢO SÁT QUÝ I (CHẤM THI &amp; NHẬP ĐIỂM)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29260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LỖI CHẤM SAI LỆCH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Chấm sai thành đúng: Tại 6A1-CG ghi nhận 15 lỗi bài 5a Nâng cao; Lớp 6T3B-Online.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Chấm đúng thành sai: Lớp 6T3B-Online chấm bài đúng của học sinh thành sai, gây ảnh hưởng kết quả đánh giá.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Minh chứng đã lưu trên Drive chuyên môn.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29260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26522"/>
                </a:solidFill>
                <a:latin typeface="Calibri"/>
              </a:defRPr>
            </a:pPr>
            <a:r>
              <a:t>LỆCH ĐIỂM THÀNH PHẦN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Không khớp điểm: Điểm trên bài thi giấy không khớp với điểm nhập trên phần mềm.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Ghi nhận: Lớp 6B3-HD có tới 19 lỗi lệch điểm.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Nhập thiếu điểm: Bài học sinh không làm được phải nhập 0 điểm, không được để trống ô điểm.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29260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TRỄ TIMELINE QUY ĐỊNH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Chưa hoàn thành đúng hạn: Giáo viên chưa hoàn thành nhập điểm &amp; nhận xét theo timeline CLB.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Ảnh hưởng: Gây chậm tiến độ kiểm soát và tổng hợp kết quả toàn hệ thống.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Lớp trễ: 6A-MD, 6A3-MD, 6A1-HD, 6A1-AK, 6B2-HBT, 6.3B2-LH.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1.3 TỒN ĐỌNG KHẢO SÁT QUÝ I (ĐIỂM DANH &amp; NHẬN XÉT)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VẮNG MẶT NHƯNG VẪN CÓ ĐIỂM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Thực trạng: Học sinh được điểm danh vắng mặt nhưng vẫn có điểm và nhận xét.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Ghi nhận: Lớp 6B1-CG có 04 trường hợp không nhất quán.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Yêu cầu: Đối chiếu tuyệt đối giữa danh sách thi và file điểm danh.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NHẬN XÉT SƠ SÀI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Nội dung nhận xét chưa đầy đủ, chưa bám sát tiêu chí CLB.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Chưa nêu rõ mức độ tiếp thu, ưu điểm và điểm cần cải thiện của HS.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Ghi nhận: Lớp 6B3-CG (minh chứng trên Google Drive).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CHƯA THỰC HIỆN ĐIỂM DANH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Giáo viên chưa cập nhật dữ liệu điểm danh theo quy định.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Ghi nhận: Lớp 6.4A-LH và lớp 6A1-HD.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Yêu cầu: Hoàn thành điểm danh ngay trong ca học.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96512"/>
            <a:ext cx="47548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QUY CHUẨN HS NGHỈ HỌC &amp; HSM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Học sinh đã nghỉ học: Bắt buộc tick 'Vắng mặt', không để trống.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Học sinh mới (HSM) đi học không thi: Tick 'Có mặt' và ghi chú 'HSM – không tham gia thi' vào cột ghi chú.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2.1 KHUNG CHƯƠNG TRÌNH CHI TIẾT - THÁNG 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3272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TIẾN ĐỘ GIẢNG DẠY TỪ BUỔI 12 ĐẾN BUỔI 15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12 (02/10 - 08/10): Chuyên &amp; Nâng cao: Số nguyên tố - Hợp số (B1) | Mở rộng + CB: Luyện tập SNT-HS, Phân tích thừa số nguyên tố.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13 (09/10 - 15/10): Chuyên &amp; Nâng cao: Số nguyên tố - Hợp số (B2) | Mở rộng + CB: Ước chung - ƯCLN.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14 (16/10 - 22/10): Chuyên &amp; Nâng cao: ƯCLN và BCNN (kèm Phân tích TSNT) | Mở rộng + CB: Bội chung - BCNN.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15 (23/10 - 29/10): Chuyên &amp; Nâng cao: ƯCLN và BCNN (tiếp) | Mở rộng + CB: Ôn tập ước và bội.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Trọng tâm chuyên môn: Rèn kỹ năng phân tích ra thừa số nguyên tố chuẩn xác, phương pháp tìm ƯCLN, BCNN và giải bài toán thực tế.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2.2 KHUNG CHƯƠNG TRÌNH CHI TIẾT - THÁNG 11/2026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3272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TIẾN ĐỘ GIẢNG DẠY TỪ BUỔI 18 ĐẾN BUỔI 22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18 (30/10 - 05/11): Chuyên &amp; Nâng cao: Số nguyên - Các phép toán trên Z | Mở rộng + CB: Số nguyên - Cộng, trừ số nguyên.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19 (06/11 - 12/11): Chuyên &amp; Nâng cao: Số nguyên - Các phép toán (tiếp) | Mở rộng + CB: Quy tắc dấu ngoặc.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20 (13/11 - 19/11): Chuyên &amp; Nâng cao: Tính chất chia hết của số nguyên | Mở rộng + CB: Phép nhân và lũy thừa số nguyên.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21 (19/11 - 23/11): TẤT CẢ CÁC HỆ LỚP: ÔN TẬP TỔNG HỢP.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Buổi 22 (25/11 - 01/12): Chuyên &amp; Nâng cao: Số chính phương (Phần 1) | Mở rộng + CB: Phép chia hết và QH chia hết trong Z.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Lưu ý chuyên môn: Tháng 11 học sinh tiếp cận tập số âm; chú trọng rèn quy tắc dấu ngoặc và phép trừ số đối.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3.1 KIẾN THỨC TRỌNG TÂM: ƯỚC CHUNG &amp; ƯCLN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QUY TRÌNH 3 BƯỚC TÌM ƯCLN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1: Phân tích các số ra thừa số nguyên tố.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2: Chọn ra các thừa số nguyên tố CHUNG.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3: Lập tích các thừa số đã chọn, mỗi thừa số lấy với SỐ MŨ NHỎ NHẤT.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Khái niệm: ƯCLN là số lớn nhất trong tập hợp các ước chung.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Ký hiệu: ƯCLN(a, b) hoặc (a, 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4 LỖI SAI THƯỜNG GẶP CỦA HỌC SINH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1. Nhầm Ước chung với ƯCLN: Nhầm lẫn giữa tập hợp ƯC và một số lớn nhất.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2. Phân tích sai ra thừa số nguyên tố: Chia cho hợp số (4, 6, 9) dẫn đến sai kết quả.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3. Chọn nhầm số mũ hoặc chọn thừa số riêng: Lấy số mũ lớn nhất hoặc lấy cả thừa số riêng.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4. Không nhận diện bài toán thực tế: Không biết khi nào bài toán yêu cầu tìm ƯCLN (chia đều nhiều nhất).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3.2 KIẾN THỨC TRỌNG TÂM: BỘI CHUNG &amp; BCNN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QUY TRÌNH 3 BƯỚC TÌM BCNN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1: Phân tích các số ra thừa số nguyên tố.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2: Chọn ra các thừa số nguyên tố CHUNG VÀ RIÊNG.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3: Lập tích các thừa số đã chọn, mỗi thừa số lấy với SỐ MŨ LỚN NHẤT.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Bảng so sánh cốt lõi: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 • ƯCLN: Chỉ lấy thừa số CHUNG với số mũ NHỎ NHẤT.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  • BCNN: Lấy thừa số CHUNG &amp; RIÊNG với số mũ LỚN NHẤT.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LỖI SAI KINH ĐIỂN CỦA HỌC SINH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1. Lấy nhầm số mũ nhỏ nhất: Do nhầm quy tắc của ƯCLN sang BCNN.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2. Bỏ quên thừa số riêng: Chỉ chọn thừa số chung dẫn đến thiếu tích.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3. Không biết tìm Bội chung qua BCNN: Tìm được BCNN nhưng không suy ra BC(a, b) = B(BCNN(a, b)).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4. Bế tắc trong bài toán thực tế: Lúng túng khi xử lý số dư (thừa/thiếu).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3.3 PHÉP TOÁN SỐ NGUYÊN &amp; QUY TẮC DẤU NGOẶC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CÁC PHÉP TOÁN TRÊN TẬP SỐ NGUYÊN Z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Phép cộng cùng dấu: Cộng 2 phần tự nhiên, giữ nguyên dấu chung.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Phép cộng khác dấu: Lấy số lớn trừ số bé, lấy dấu của số có phần tự nhiên lớn hơn.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Phép trừ số nguyên: Muốn trừ a cho b, ta cộng a với số đối của b: a - b = a + (-b).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Phép nhân số nguyên: Cùng dấu ra DƯƠNG (+); Khác dấu ra ÂM (-).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sai: Nhầm quy tắc cộng khác dấu với quy tắc dấu phép nhân.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QUY TẮC DẤU NGOẶC &amp; LỖI SAI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Dấu '+' đằng trước: Giữ nguyên dấu các số hạng trong ngoặc: a + (b - c) = a + b - c.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Dấu '-' đằng trước: ĐỔI DẤU TẤT CẢ các số hạng trong ngoặc: a - (b - c) = a - b + c.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1: Quên đổi dấu số hạng thứ hai trở đi khi trước ngoặc là dấu '-'.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2: Nhầm dấu kết quả phép cộng khác dấu.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3: Tính nhẩm nhanh nhưng quên kiểm tra lại quy tắc chuyển số đối.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4.1 DẠNG 1: CHỨNG MINH HAI SỐ NGUYÊN TỐ CÙNG NHAU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PHƯƠNG PHÁP 5 BƯỚC CHUẨN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1: Gọi d = ƯCLN(A, B) với điều kiện bắt buộc d thuộc N*.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2: Vì d là ƯCLN nên A chia hết cho d và B chia hết cho 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3: Dùng tính chất chia hết của tổng/hiệu để khử n: (m.A - k.B) chia hết cho 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4: Chứng minh 1 chia hết cho d =&gt; d = 1.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Bước 5: Kết luận A và B là hai số nguyên tố cùng nhau.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VÍ DỤ 1: CHỨNG MINH (n+1) VÀ (n+2)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Đề bài: Chứng minh (n+1) và (n+2) là hai số nguyên tố cùng nhau.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Lời giải: Gọi d = ƯCLN(n+1, n+2), d thuộc N*.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Ta có: (n+1) chia hết cho d và (n+2) chia hết cho 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Suy ra: [(n+2) - (n+1)] chia hết cho d =&gt; 1 chia hết cho d =&gt; d = 1.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Vậy (n+1) và (n+2) là hai số nguyên tố cùng nhau.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sai của HS: Quên điều kiện d thuộc N*; Trừ sai phép mở ngoặc [(n+2)-(n+1)]; Thiếu câu kết luận cuối cùng.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4.2 DẠNG 1: TÌM n ĐỂ HAI SỐ NGUYÊN TỐ CÙNG NHAU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VÍ DỤ 2: TÌM n ĐỂ (3n+1) VÀ (n+2) NTCN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Đề bài: Tìm số tự nhiên n để (3n+1) và (n+2) là hai số nguyên tố cùng nhau.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Giải: Gọi d = ƯCLN(3n+1, n+2), d thuộc N*.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Ta có: (3n+1) chia hết cho d và (n+2) chia hết cho d =&gt; (3n+6) chia hết cho d.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Suy ra: [(3n+6) - (3n+1)] chia hết cho d =&gt; 5 chia hết cho d =&gt; d thuộc {1; 5}.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Để hai số NTCN thì d khác 5 =&gt; (n+2) không chia hết cho 5 =&gt; n + 2 khác 5k =&gt; n khác 5k - 2 (k thuộc N*).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Kết luận: n khác 5k - 2 (k thuộc N*).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PHÂN TÍCH BẪY SAI LẦM CỦA HS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kết luận n khác 5: Khi thấy d thuộc {1; 5}, học sinh vội vàng kết luận n khác 5. Đây là sai lầm bản chất!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Chưa biết cách khử n: Không nhận ra cần nhân 3 vào (n+2) để triệt tiêu số hạng 3n.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Viết sai phép biến đổi hiệu: Nhầm dấu khi mở ngoặc [(3n+6) - (3n+1)].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Khắc sâu: d là ước chung, muốn d = 1 thì số hạng không được là bội của 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4.3 DẠNG 2: TÌM HAI SỐ BIẾT ƯCLN VÀ BCNN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BỔ ĐỀ &amp; VÍ DỤ 2A (a + b = 128, UCLN = 16)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Bổ đề: Nếu ƯCLN(a, b) = d =&gt; a = dx, b = dy với (x, y) = 1. Khi đó BCNN(a, b) = d.x.y và a.b = UCLN.BCNN.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Ví dụ 2a: a + b = 128, ƯCLN(a, b) = 16.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Đặt a = 16x, b = 16y với (x, y) = 1.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16x + 16y = 128 =&gt; x + y = 8.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Vì (x, y) = 1 nên (x, y) thuộc {(1; 7), (3; 5), (5; 3), (7; 1)}.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Các cặp (a, b) tương ứng: (16; 112), (48; 80), (80; 48), (112; 16).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VÍ DỤ 2B (a.b = 1200, BCNN = 240)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Ví dụ 2b: a.b = 1200, BCNN(a, b) = 240.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Ta có: ƯCLN(a, b) = (a.b) : BCNN(a, b) = 1200 : 240 = 5.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Đặt a = 5x, b = 5y với (x, y) = 1.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a.b = 25.x.y = 1200 =&gt; x.y = 48 = 2^4 . 3.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Vì (x, y) = 1 nên (x, y) thuộc {(1; 48), (3; 16), (16; 3), (48; 1)}.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Các cặp (a, b) tương ứng: (5; 240), (15; 80), (80; 15), (240; 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4.4 DẠNG 3: BÀI TOÁN THỰC TẾ BCNN (TRỨNG GÀ)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ĐỀ BÀI &amp; LỜI GIẢI MẪU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Đề bài: Nông trại có ít hơn 250 quả trứng. Xếp khay 8, 10, 12 quả đều THỪA 5 quả. Xếp khay 7 quả thì VỪA ĐỦ. Tìm số trứng.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Giải: Gọi số trứng là x (x thuộc N*, x &lt; 250).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Vì xếp khay 8, 10, 12 thừa 5 quả =&gt; (x - 5) chia hết cho 8, 10, 12 =&gt; (x - 5) thuộc BC(8, 10, 12).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BCNN(8, 10, 12) = 120 =&gt; (x - 5) thuộc {0; 120; 240; 360...} =&gt; x thuộc {5; 125; 245; 365...}.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Vì x &lt; 250 và x chia hết cho 7 =&gt; Chọn x = 245 quả trứng.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LỖI SAI &amp; QUY TẮC VÀNG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1: Nhầm giữa x và (x - 5): Cho x chia hết cho 8, 10, 12 thay vì (x - 5).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2: Tính sai BCNN: Sai phân tích TSNT hoặc chọn sai số mũ.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3: Quên cộng lại số dư 5 sau khi tìm Bội chung.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4: Quên kiểm tra điều kiện chia hết cho 7.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QUY TẮC CỐT LÕI CHO HS: 'Thừa a' -&gt; trừ a -&gt; bài toán chia hết -&gt; tìm BC qua BCNN -&gt; cộng lại a -&gt; dùng điều kiện phụ chọn nghiệm.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4.5 DẠNG 4: TÌM x TRONG BÀI TOÁN LŨY THỪA BẬC CHẴN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BÀI TOÁN: (2x - 3)^2 = 49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Lời giải chuẩn: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Ta có: (2x - 3)^2 = 7^2 hoặc (2x - 3)^2 = (-7)^2.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TH1: 2x - 3 = 7 =&gt; 2x = 10 =&gt; x = 5.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TH2: 2x - 3 = -7 =&gt; 2x = -4 =&gt; x = -2.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Vậy tập nghiệm x thuộc {-2; 5}.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Lưu ý: Bắt buộc trình bày rõ 2 trường hợp độc lập.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LỖI SAI TRỌNG TÂM: BỎ SÓT TRƯỜNG HỢP ÂM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Thực trạng: Học sinh hầu như chỉ làm trường hợp 2x - 3 = 7 =&gt; x = 5, bỏ quên (-7)^2 = 49.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Hậu quả: Mất 50% số điểm của câu hỏi.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Quy tắc bắt buộc phải khắc sâu: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Khi A^2 = a^2 (a &gt; 0), trong tập số nguyên Z luôn có 2 trường hợp: A = a hoặc A = -a.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Giáo viên nhấn mạnh trong mọi bài chữa đề thi khảo sát.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4.6 DẠNG 5: TÌM GTLN &amp; GTNN BIỂU THỨC SỐ NGUYÊN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DẠNG TÌM GTNN (Min)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Nguyên lý: Lũy thừa chẵn không âm: [A(x)]^2 &gt;= 0 với mọi x.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Biến đổi: F(x) = [A(x)]^2 + k &gt;= k.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Dấu '=' xảy ra khi A(x) = 0 =&gt; x = x0.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Ví dụ: Tìm GTNN của A = x^2 + 2.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Bước 1: Vì x^2 &gt;= 0 với mọi x =&gt; x^2 + 2 &gt;= 2 hay A &gt;= 2.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Bước 2: Dấu '=' xảy ra khi x = 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Bước 3: Vậy GTNN của A là 2 khi x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754880" cy="460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26522"/>
                </a:solidFill>
                <a:latin typeface="Calibri"/>
              </a:defRPr>
            </a:pPr>
            <a:r>
              <a:t>DẠNG TÌM GTLN (Max)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Biến đổi: G(x) = -[A(x)]^2 + k &lt;= k.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Dấu '=' xảy ra khi A(x) = 0 =&gt; x = x0.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Ví dụ: Tìm GTLN của M = 1 - x^2.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Bước 1: Vì x^2 &gt;= 0 =&gt; -x^2 &lt;= 0 =&gt; 1 - x^2 &lt;= 1 hay M &lt;= 1.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Bước 2: Dấu '=' xảy ra khi x = 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• Bước 3: Vậy GTLN của M là 1 khi x = 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Lỗi sai: Nhầm dấu âm trước bình phương; Quên tìm điều kiện dấu '='.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0F7FB"/>
          </a:solidFill>
          <a:ln w="3810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6522"/>
                </a:solidFill>
                <a:latin typeface="Calibri"/>
              </a:defRPr>
            </a:pPr>
            <a:r>
              <a:t>HỌP CHUYÊN MÔN KHỐI 6 - THÁNG 10/2026</a:t>
            </a:r>
          </a:p>
          <a:p>
            <a:pPr>
              <a:defRPr sz="2200" b="1">
                <a:solidFill>
                  <a:srgbClr val="005B9F"/>
                </a:solidFill>
                <a:latin typeface="Calibri"/>
              </a:defRPr>
            </a:pPr>
            <a:r>
              <a:t>5. THẢO LUẬN &amp; 6 HÀNH ĐỘNG THEN CHỐT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5B9F"/>
                </a:solidFill>
                <a:latin typeface="Calibri"/>
              </a:defRPr>
            </a:pPr>
            <a:r>
              <a:t>MathExpress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29260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Calibri"/>
              </a:defRPr>
            </a:pPr>
            <a:r>
              <a:t>1. TÁC PHONG SƯ PHẠM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Đeo thẻ tên suốt ca dạy; có mặt trước 05 phút; không dùng điện thoại việc riêng.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29260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26522"/>
                </a:solidFill>
                <a:latin typeface="Calibri"/>
              </a:defRPr>
            </a:pPr>
            <a:r>
              <a:t>2. CHUẨN BỊ BÀI DẠY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Soạn bài kỹ, giải trước 100% bài tập trong phiếu; bám sát PPCT.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29260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3. CHUẨN HÓA CHẤM THI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Chấm chính xác, không chấm sót, không lệch điểm; nhập 0 câu không làm.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29260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4. ĐIỂM DANH &amp; TIMELINE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Điểm danh chuẩn (tick vắng mặt cho HS nghỉ, ghi chú HSM); nhập điểm đúng hạn.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96512"/>
            <a:ext cx="29260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5B9F"/>
                </a:solidFill>
                <a:latin typeface="Calibri"/>
              </a:defRPr>
            </a:pPr>
            <a:r>
              <a:t>5. NHẬN XÉT SÂU SÁT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Nhận xét chi tiết bám sát tiêu chí CLB: mức tiếp thu, ưu điểm, điểm cần cải thiện.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96512"/>
            <a:ext cx="2926080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6. RÈN KỸ DẠNG BÀI BẪY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• Rèn kỹ 5 dạng toán trọng tâm (ƯCLN, BCNN, thực tế trứng gà, x bậc chẵn, GTLN-GTNN).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CẢM ƠN QUÝ THẦY CÔ!</a:t>
            </a:r>
          </a:p>
          <a:p>
            <a:pPr algn="ctr">
              <a:spcBef>
                <a:spcPts val="1600"/>
              </a:spcBef>
              <a:defRPr sz="2000" b="1">
                <a:solidFill>
                  <a:srgbClr val="F26522"/>
                </a:solidFill>
              </a:defRPr>
            </a:pPr>
            <a:r>
              <a:t>MATHEXPRESS - TẬN TÂM KHƠI DẬY TIỀM NĂNG TOÁN HỌC</a:t>
            </a:r>
          </a:p>
          <a:p>
            <a:pPr algn="ctr">
              <a:spcBef>
                <a:spcPts val="1200"/>
              </a:spcBef>
              <a:defRPr sz="1600">
                <a:solidFill>
                  <a:srgbClr val="E2E8F0"/>
                </a:solidFill>
              </a:defRPr>
            </a:pPr>
            <a:r>
              <a:t>Kính chúc quý Thầy/Cô một tuần giảng dạy nhiều năng lượng và hiệu quả!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